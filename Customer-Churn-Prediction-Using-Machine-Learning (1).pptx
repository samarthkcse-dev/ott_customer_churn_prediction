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Medium"/>
      <p:regular r:id="rId201316"/>
    </p:embeddedFont>
    <p:embeddedFont>
      <p:font typeface="Sora Medium"/>
      <p:regular r:id="rId201317"/>
    </p:embeddedFont>
    <p:embeddedFont>
      <p:font typeface="Sora"/>
      <p:regular r:id="rId201318"/>
    </p:embeddedFont>
    <p:embeddedFont>
      <p:font typeface="Sor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7B8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Customer Churn Prediction Using Machine Learning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Presented by: [Your Name] · Department of Computer Engineering · A.G. Patil Polytechnic Institute, Solapur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10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Introduction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42" y="1632049"/>
            <a:ext cx="2495091" cy="24951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36344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 is customer churn?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772124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customers stop using a product or service — measured as voluntary attrition over a time period.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302" y="1632049"/>
            <a:ext cx="2495091" cy="24951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36344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Why retention matters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77212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Retaining customers is more cost-effective than acquiring new ones; small retention gains often drive outsized revenue impact.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962" y="1632049"/>
            <a:ext cx="2495091" cy="24951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36344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Role of machine learning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77212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ML detects behavior patterns and predicts at-risk customers so interventions can be targeted and timely.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56742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 Statement &amp; Objectives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50170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2985988"/>
            <a:ext cx="2917851" cy="188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Companies lose customers due to dissatisfaction and disengagement.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Manual churn detection is slow, inconsistent and not scalable.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50170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Objectives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18719" y="2985988"/>
            <a:ext cx="2917851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 which customers will churn (binary target).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key factors driving churn for explainability.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 retention strategies based on predictions.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5184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Technology Stack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661475" y="1295102"/>
            <a:ext cx="3542219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4" name="Shape 2"/>
          <p:cNvSpPr/>
          <p:nvPr/>
        </p:nvSpPr>
        <p:spPr>
          <a:xfrm>
            <a:off x="2205776" y="1446312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30491" y="1571030"/>
            <a:ext cx="204088" cy="2040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680" y="2020887"/>
            <a:ext cx="32398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Python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680" y="2329656"/>
            <a:ext cx="323980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language for data processing and modelling.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24639" y="1295102"/>
            <a:ext cx="3542318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9" name="Shape 6"/>
          <p:cNvSpPr/>
          <p:nvPr/>
        </p:nvSpPr>
        <p:spPr>
          <a:xfrm>
            <a:off x="5868940" y="1446312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3655" y="1571030"/>
            <a:ext cx="204088" cy="2040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75844" y="2020887"/>
            <a:ext cx="32399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Pandas &amp; NumPy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475844" y="2329656"/>
            <a:ext cx="323990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manipulation, cleaning and numerical operations.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87902" y="1295102"/>
            <a:ext cx="3542318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14" name="Shape 10"/>
          <p:cNvSpPr/>
          <p:nvPr/>
        </p:nvSpPr>
        <p:spPr>
          <a:xfrm>
            <a:off x="9532203" y="1446312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6918" y="1571030"/>
            <a:ext cx="204088" cy="2040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9107" y="2020887"/>
            <a:ext cx="32399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Matplotlib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39107" y="2329656"/>
            <a:ext cx="323990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Exploratory visualisations and plots.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61475" y="3037185"/>
            <a:ext cx="3542219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19" name="Shape 14"/>
          <p:cNvSpPr/>
          <p:nvPr/>
        </p:nvSpPr>
        <p:spPr>
          <a:xfrm>
            <a:off x="2205776" y="3188395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30491" y="3313113"/>
            <a:ext cx="204088" cy="2040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2680" y="3762970"/>
            <a:ext cx="32398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12680" y="4071739"/>
            <a:ext cx="323980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building, validation and evaluation tools.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24639" y="3037185"/>
            <a:ext cx="3542318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24" name="Shape 18"/>
          <p:cNvSpPr/>
          <p:nvPr/>
        </p:nvSpPr>
        <p:spPr>
          <a:xfrm>
            <a:off x="5868940" y="3188395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93655" y="3313113"/>
            <a:ext cx="204088" cy="2040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75844" y="3762970"/>
            <a:ext cx="32399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MySQL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475844" y="4071739"/>
            <a:ext cx="323990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 historical customer and transaction data.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987902" y="3037185"/>
            <a:ext cx="3542318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29" name="Shape 22"/>
          <p:cNvSpPr/>
          <p:nvPr/>
        </p:nvSpPr>
        <p:spPr>
          <a:xfrm>
            <a:off x="9532203" y="3188395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56918" y="3313113"/>
            <a:ext cx="204088" cy="2040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139107" y="3762970"/>
            <a:ext cx="32399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139107" y="4071739"/>
            <a:ext cx="323990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dashboard for predictions and recommendations.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61475" y="4779268"/>
            <a:ext cx="10868745" cy="1403449"/>
          </a:xfrm>
          <a:prstGeom prst="roundRect">
            <a:avLst>
              <a:gd name="adj" fmla="val 1616"/>
            </a:avLst>
          </a:prstGeom>
          <a:solidFill>
            <a:srgbClr val="26262B"/>
          </a:solidFill>
          <a:ln/>
        </p:spPr>
      </p:sp>
      <p:sp>
        <p:nvSpPr>
          <p:cNvPr id="34" name="Shape 26"/>
          <p:cNvSpPr/>
          <p:nvPr/>
        </p:nvSpPr>
        <p:spPr>
          <a:xfrm>
            <a:off x="5869039" y="4930477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93754" y="5055195"/>
            <a:ext cx="204088" cy="20409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12680" y="5505053"/>
            <a:ext cx="1056633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Gemini API</a:t>
            </a:r>
            <a:endParaRPr lang="en-US" sz="1450" dirty="0"/>
          </a:p>
        </p:txBody>
      </p:sp>
      <p:sp>
        <p:nvSpPr>
          <p:cNvPr id="37" name="Text 28"/>
          <p:cNvSpPr/>
          <p:nvPr/>
        </p:nvSpPr>
        <p:spPr>
          <a:xfrm>
            <a:off x="812680" y="5813822"/>
            <a:ext cx="1056633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Natural-language explanation and enhanced retention-message generation.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874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Dataset &amp; Features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18172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features used for modelling and interpretation: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54201"/>
            <a:ext cx="5203794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Subscription Plan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(tiered: Basic / Standard / Premium)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Watch Time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(minutes per week)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Login Frequency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(logins per week)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Payment Failures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(count in last 3 months)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Customer Support Tickets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(count + resolved flag)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Satisfaction Rating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(1–5)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Churn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(target: 0 = retained, 1 = churn)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017316"/>
            <a:ext cx="5203794" cy="31067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533667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348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Preprocessing &amp; Exploratory Analysis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661475" y="1081286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26262B"/>
          </a:solidFill>
          <a:ln/>
        </p:spPr>
      </p:sp>
      <p:sp>
        <p:nvSpPr>
          <p:cNvPr id="4" name="Text 2"/>
          <p:cNvSpPr/>
          <p:nvPr/>
        </p:nvSpPr>
        <p:spPr>
          <a:xfrm>
            <a:off x="793730" y="1213545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3730" y="1475780"/>
            <a:ext cx="32966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Remove duplicates, standardise date formats, validate numeric ranges.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15213" y="1081286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26262B"/>
          </a:solidFill>
          <a:ln/>
        </p:spPr>
      </p:sp>
      <p:sp>
        <p:nvSpPr>
          <p:cNvPr id="7" name="Text 5"/>
          <p:cNvSpPr/>
          <p:nvPr/>
        </p:nvSpPr>
        <p:spPr>
          <a:xfrm>
            <a:off x="4447468" y="1213545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47468" y="1475780"/>
            <a:ext cx="32966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Impute with median for continuous fields; mode or explicit "unknown" for categorical.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68951" y="1081286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26262B"/>
          </a:solidFill>
          <a:ln/>
        </p:spPr>
      </p:sp>
      <p:sp>
        <p:nvSpPr>
          <p:cNvPr id="10" name="Text 8"/>
          <p:cNvSpPr/>
          <p:nvPr/>
        </p:nvSpPr>
        <p:spPr>
          <a:xfrm>
            <a:off x="8101207" y="1213545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Encoding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01207" y="1475780"/>
            <a:ext cx="32966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One-hot for Subscription Plan; ordinal encoding for satisfaction where appropriate.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1475" y="2060575"/>
            <a:ext cx="10868646" cy="706735"/>
          </a:xfrm>
          <a:prstGeom prst="roundRect">
            <a:avLst>
              <a:gd name="adj" fmla="val 2808"/>
            </a:avLst>
          </a:prstGeom>
          <a:solidFill>
            <a:srgbClr val="26262B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30" y="2192834"/>
            <a:ext cx="1060413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Scaling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3730" y="2455069"/>
            <a:ext cx="10604135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StandardScaler for models sensitive to scale (e.g., distance-based features).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475" y="290453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38" y="3164979"/>
            <a:ext cx="4866161" cy="273933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304" y="3766344"/>
            <a:ext cx="2515926" cy="153660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1475" y="6112669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EDA takeaways: class balance check, strong negative correlation between Watch Time and churn, Payment Failures and low Satisfaction as top risk indicators.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3816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Machine Learning Model &amp; Workflow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3678" y="1264940"/>
            <a:ext cx="8084340" cy="3486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97661" y="4075977"/>
            <a:ext cx="1873424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Prediction &amp; Explain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597661" y="3268966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97661" y="2470107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97661" y="1663097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Dataset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475" y="4856659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1475" y="5078512"/>
            <a:ext cx="3552042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5187454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Supervised approach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1475" y="5472609"/>
            <a:ext cx="355204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labelled historical data to learn patterns associated with churn.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19777" y="4856659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19777" y="5078512"/>
            <a:ext cx="3552042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4" name="Text 11"/>
          <p:cNvSpPr/>
          <p:nvPr/>
        </p:nvSpPr>
        <p:spPr>
          <a:xfrm>
            <a:off x="4319777" y="5187454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319777" y="5472609"/>
            <a:ext cx="355204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Ensemble tree-based classifier chosen for robustness, interpretability via feature importances, and handling mixed data types.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78079" y="4856659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78079" y="5092601"/>
            <a:ext cx="3552042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8" name="Text 15"/>
          <p:cNvSpPr/>
          <p:nvPr/>
        </p:nvSpPr>
        <p:spPr>
          <a:xfrm>
            <a:off x="7978079" y="5187454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Training &amp; testing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978079" y="5472609"/>
            <a:ext cx="355204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Stratified train/test split, cross-validation, and metrics: accuracy, precision, recall, F1 and AUC-ROC.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7742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Application — Streamlit Dashboard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79066"/>
            <a:ext cx="3399745" cy="35543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86970"/>
            <a:ext cx="460929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059434" y="1427758"/>
            <a:ext cx="3170257" cy="2040533"/>
          </a:xfrm>
          <a:prstGeom prst="roundRect">
            <a:avLst>
              <a:gd name="adj" fmla="val 1181"/>
            </a:avLst>
          </a:prstGeom>
          <a:solidFill>
            <a:srgbClr val="26262B"/>
          </a:solidFill>
          <a:ln/>
        </p:spPr>
      </p:sp>
      <p:sp>
        <p:nvSpPr>
          <p:cNvPr id="6" name="Shape 3"/>
          <p:cNvSpPr/>
          <p:nvPr/>
        </p:nvSpPr>
        <p:spPr>
          <a:xfrm>
            <a:off x="6403517" y="1588393"/>
            <a:ext cx="481993" cy="48200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6070" y="1720949"/>
            <a:ext cx="216887" cy="2168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0066" y="2206923"/>
            <a:ext cx="284899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Customer input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5220066" y="2594471"/>
            <a:ext cx="284899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Fields: Age, Subscription Plan, Watch Time, Login Frequency, Payment history, Support interactions.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366213" y="1427758"/>
            <a:ext cx="3170257" cy="2040533"/>
          </a:xfrm>
          <a:prstGeom prst="roundRect">
            <a:avLst>
              <a:gd name="adj" fmla="val 1181"/>
            </a:avLst>
          </a:prstGeom>
          <a:solidFill>
            <a:srgbClr val="26262B"/>
          </a:solidFill>
          <a:ln/>
        </p:spPr>
      </p:sp>
      <p:sp>
        <p:nvSpPr>
          <p:cNvPr id="11" name="Shape 7"/>
          <p:cNvSpPr/>
          <p:nvPr/>
        </p:nvSpPr>
        <p:spPr>
          <a:xfrm>
            <a:off x="9710296" y="1588393"/>
            <a:ext cx="481993" cy="48200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2849" y="1720949"/>
            <a:ext cx="216887" cy="2168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26844" y="2206923"/>
            <a:ext cx="284899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Prediction output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526844" y="2594471"/>
            <a:ext cx="284899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Churn probability score, binary prediction and confidence interval.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59434" y="3604816"/>
            <a:ext cx="3170257" cy="2040533"/>
          </a:xfrm>
          <a:prstGeom prst="roundRect">
            <a:avLst>
              <a:gd name="adj" fmla="val 1181"/>
            </a:avLst>
          </a:prstGeom>
          <a:solidFill>
            <a:srgbClr val="26262B"/>
          </a:solidFill>
          <a:ln/>
        </p:spPr>
      </p:sp>
      <p:sp>
        <p:nvSpPr>
          <p:cNvPr id="16" name="Shape 11"/>
          <p:cNvSpPr/>
          <p:nvPr/>
        </p:nvSpPr>
        <p:spPr>
          <a:xfrm>
            <a:off x="6403517" y="3765451"/>
            <a:ext cx="481993" cy="48200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6070" y="3898007"/>
            <a:ext cx="216887" cy="2168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20066" y="4383980"/>
            <a:ext cx="284899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Churn reason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220066" y="4771529"/>
            <a:ext cx="284899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Model-backed explanation (e.g., low watch time + recent payment failures).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366213" y="3604816"/>
            <a:ext cx="3170257" cy="2040533"/>
          </a:xfrm>
          <a:prstGeom prst="roundRect">
            <a:avLst>
              <a:gd name="adj" fmla="val 1181"/>
            </a:avLst>
          </a:prstGeom>
          <a:solidFill>
            <a:srgbClr val="26262B"/>
          </a:solidFill>
          <a:ln/>
        </p:spPr>
      </p:sp>
      <p:sp>
        <p:nvSpPr>
          <p:cNvPr id="21" name="Shape 15"/>
          <p:cNvSpPr/>
          <p:nvPr/>
        </p:nvSpPr>
        <p:spPr>
          <a:xfrm>
            <a:off x="9710296" y="3765451"/>
            <a:ext cx="481993" cy="48200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2849" y="3898007"/>
            <a:ext cx="216887" cy="2168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26844" y="4383980"/>
            <a:ext cx="284899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Retention recommendation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8526844" y="4771529"/>
            <a:ext cx="284899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Suggested actions: personalised offer, payment reminder, targeted content, outreach by support.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61475" y="5952530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Integration: MySQL for user data, Gemini API for natural-language recommendation messages.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716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Results &amp; Future Scope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57212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85%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43205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 AUC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84073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separability between churn and retained customers.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157212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78%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243205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Precision / Recall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284073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Balanced precision and recall after threshold tuning.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157212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Top 3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243205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Top features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284073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Watch Time, Payment Failures, Satisfaction Rating.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365819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Results: Accurate churn prediction with actionable factor identification enabling targeted retention efforts.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424408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Future Scope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4822825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streaming predictions (Kafka / Spark) for live interventions.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learning: sequence models (LSTM/Transformer) on session/time-series data.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 on live OTT platform with A/B testing of retention strategies.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 explanations with SHAP and integrate Gemini for human-friendly recommendations.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59434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415381"/>
            <a:ext cx="629686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learning enables the early identification of at‑risk customers, helping businesses prioritise retention actions. This project integrates data analysis, predictive modelling (Random Forest), a MySQL-backed dataset and a Streamlit application enhanced by Gemini for human-friendly recommendations. The result: measurable reductions in churn risk and a roadmap for real‑time deployment and deeper models.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442520"/>
            <a:ext cx="6296860" cy="755948"/>
          </a:xfrm>
          <a:prstGeom prst="roundRect">
            <a:avLst>
              <a:gd name="adj" fmla="val 3751"/>
            </a:avLst>
          </a:prstGeom>
          <a:solidFill>
            <a:srgbClr val="00288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471021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4678759"/>
            <a:ext cx="61031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 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2026-08-11T10:11:20Z</dcterms:created>
  <dcterms:modified xsi:type="dcterms:W3CDTF">2026-08-11T10:11:20Z</dcterms:modified>
</cp:coreProperties>
</file>